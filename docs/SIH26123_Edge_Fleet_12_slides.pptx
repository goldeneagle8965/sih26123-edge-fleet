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Hook, 12 seconds. Do not start with algorithms. Ask: what happens when 40 AMRs share one aisle and the 5G controller dies? Pause. Then: today they freeze. Ours keep working because each robot is its own controller.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Name a city: Hyderabad 3PL, or any Indian e-commerce DC. Judges care that this is a warehouse problem, not a robotics paper. Stress mixed humans + robots and patchy indoor radio.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dunk on industry unfairly. Say: central control is the default because it is easier to code. That is why teams fake decentralization. We refused that shortcut.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junction metaphor is the usefulness. Cars do not call a traffic-light server for every meter. Neither should AMRs in a rack aisle.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at the live radio panel during the demo. That packet feed is the proof. If they cannot see packets, it looks like a central brain with a pretty 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scores tie or radio is stale: stalemate timeout, then lower robot_id yields. Deterministic. Never 'if robot_id == R1: pass'.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slide fast. Algorithm is backup for a technical judge. The live demo is the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asked for a customer: any 3PL doing e-commerce pick-pack with AMRs. We did not fake a signed MoU. The map is a faithful aisle geometry, not a brand 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Memorize: 72 / 51 / 85. Baseline deadlocks. Ours finishes. If they push for a percentage, repeat: a percentage against an incomplete baseline is a lie.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twice with a timer. Have a 20-second backup screen recording if the judging laptop has no Python. Live first. Recording is insurance.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Honesty here scores. Teams that claim a live warehouse with a grid sim get torn apart. Offer the Pi path as the next funded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line, then wait for questions. Do not keep talking. If they ask usefulness: a picker in the aisle is not an exception — it is the job. Central control treats humans as faults. This treats them as traffic.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A1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0A106"/>
                </a:solidFill>
                <a:latin typeface="Calibri"/>
              </a:rPr>
              <a:t>SIH26123  ·  EDGE-AI DISTRIBUTED FLEET COORDINATION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F3E6D4"/>
                </a:solidFill>
                <a:latin typeface="Calibri"/>
              </a:rPr>
              <a:t>If the control room dies,</a:t>
            </a:r>
          </a:p>
          <a:p>
            <a:pPr algn="l">
              <a:spcAft>
                <a:spcPts val="1200"/>
              </a:spcAft>
            </a:pPr>
            <a:r>
              <a:rPr sz="4000" b="1">
                <a:solidFill>
                  <a:srgbClr val="E0A106"/>
                </a:solidFill>
                <a:latin typeface="Calibri"/>
              </a:rPr>
              <a:t>the aisle should not.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B9A58C"/>
                </a:solidFill>
                <a:latin typeface="Calibri"/>
              </a:rPr>
              <a:t>Three warehouse AMRs. No central dispatcher. Each robot broadcasts, auctions work, and yields locally — including when a human blocks the corridor.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893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F9E8A"/>
                </a:solidFill>
                <a:latin typeface="Calibri"/>
              </a:rPr>
              <a:t>Prototype  ·  Hyderabad 3PL rack floor  ·  measured vs stop-and-wait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A1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E0A106"/>
                </a:solidFill>
                <a:latin typeface="Calibri"/>
              </a:rPr>
              <a:t>SIH26123  ·  THE REAL PROBLEM  ·  2/12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3E6D4"/>
                </a:solidFill>
                <a:latin typeface="Calibri"/>
              </a:rPr>
              <a:t>Indian 3PL warehouses already have the failure mode.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5440680" cy="214884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91440" cy="2148840"/>
          </a:xfrm>
          <a:prstGeom prst="rect">
            <a:avLst/>
          </a:prstGeom>
          <a:solidFill>
            <a:srgbClr val="E0A1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0A106"/>
                </a:solidFill>
                <a:latin typeface="Calibri"/>
              </a:rPr>
              <a:t>Narrow aisles</a:t>
            </a:r>
          </a:p>
          <a:p>
            <a:pPr algn="l">
              <a:spcAft>
                <a:spcPts val="0"/>
              </a:spcAft>
            </a:pPr>
            <a:r>
              <a:rPr sz="1600" b="0">
                <a:solidFill>
                  <a:srgbClr val="F3E6D4"/>
                </a:solidFill>
                <a:latin typeface="Calibri"/>
              </a:rPr>
              <a:t>1-wide rack corridors. Two AMRs cannot pass. A picker or carton blocks the only gap.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417320"/>
            <a:ext cx="5440680" cy="214884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417320"/>
            <a:ext cx="91440" cy="2148840"/>
          </a:xfrm>
          <a:prstGeom prst="rect">
            <a:avLst/>
          </a:prstGeom>
          <a:solidFill>
            <a:srgbClr val="E0A1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4592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0A106"/>
                </a:solidFill>
                <a:latin typeface="Calibri"/>
              </a:rPr>
              <a:t>Central WMS / 5G</a:t>
            </a:r>
          </a:p>
          <a:p>
            <a:pPr algn="l">
              <a:spcAft>
                <a:spcPts val="0"/>
              </a:spcAft>
            </a:pPr>
            <a:r>
              <a:rPr sz="1600" b="0">
                <a:solidFill>
                  <a:srgbClr val="F3E6D4"/>
                </a:solidFill>
                <a:latin typeface="Calibri"/>
              </a:rPr>
              <a:t>Every move waits on the cloud. Latency, cost, and a single outage stop the shift.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749039"/>
            <a:ext cx="5440680" cy="214884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749039"/>
            <a:ext cx="91440" cy="2148840"/>
          </a:xfrm>
          <a:prstGeom prst="rect">
            <a:avLst/>
          </a:prstGeom>
          <a:solidFill>
            <a:srgbClr val="E0A1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977639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0A106"/>
                </a:solidFill>
                <a:latin typeface="Calibri"/>
              </a:rPr>
              <a:t>Mixed traffic</a:t>
            </a:r>
          </a:p>
          <a:p>
            <a:pPr algn="l">
              <a:spcAft>
                <a:spcPts val="0"/>
              </a:spcAft>
            </a:pPr>
            <a:r>
              <a:rPr sz="1600" b="0">
                <a:solidFill>
                  <a:srgbClr val="F3E6D4"/>
                </a:solidFill>
                <a:latin typeface="Calibri"/>
              </a:rPr>
              <a:t>Humans, forklifts, robots. Obstacles are not in the map. They appear mid-pick.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3749039"/>
            <a:ext cx="5440680" cy="214884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3749039"/>
            <a:ext cx="91440" cy="2148840"/>
          </a:xfrm>
          <a:prstGeom prst="rect">
            <a:avLst/>
          </a:prstGeom>
          <a:solidFill>
            <a:srgbClr val="C44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977639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C44B2B"/>
                </a:solidFill>
                <a:latin typeface="Calibri"/>
              </a:rPr>
              <a:t>Stop-and-wait</a:t>
            </a:r>
          </a:p>
          <a:p>
            <a:pPr algn="l">
              <a:spcAft>
                <a:spcPts val="0"/>
              </a:spcAft>
            </a:pPr>
            <a:r>
              <a:rPr sz="1600" b="0">
                <a:solidFill>
                  <a:srgbClr val="F3E6D4"/>
                </a:solidFill>
                <a:latin typeface="Calibri"/>
              </a:rPr>
              <a:t>Both robots see a conflict and freeze. Deadlock. Picks do not leave the aisle.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A1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E0A106"/>
                </a:solidFill>
                <a:latin typeface="Calibri"/>
              </a:rPr>
              <a:t>SIH26123  ·  THE GAP  ·  3/12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3E6D4"/>
                </a:solidFill>
                <a:latin typeface="Calibri"/>
              </a:rPr>
              <a:t>Two common answers both fail on a live floor.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11155680" cy="210312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10607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0A106"/>
                </a:solidFill>
                <a:latin typeface="Calibri"/>
              </a:rPr>
              <a:t>Central reservation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F3E6D4"/>
                </a:solidFill>
                <a:latin typeface="Calibri"/>
              </a:rPr>
              <a:t>A fleet computer locks cells for everyone. Fast on a whiteboard. Dead when the link dies. Judges will ask: does Robot A know Robot B through a scheduler?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703320"/>
            <a:ext cx="11155680" cy="210312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931920"/>
            <a:ext cx="10607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0A106"/>
                </a:solidFill>
                <a:latin typeface="Calibri"/>
              </a:rPr>
              <a:t>Stop-and-wait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F3E6D4"/>
                </a:solidFill>
                <a:latin typeface="Calibri"/>
              </a:rPr>
              <a:t>Safe and dumb. On a 1-wide aisle both freeze. Our baseline never finishes 6 jobs in 800 ticks.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A1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E0A106"/>
                </a:solidFill>
                <a:latin typeface="Calibri"/>
              </a:rPr>
              <a:t>SIH26123  ·  CORE IDEA  ·  4/12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3E6D4"/>
                </a:solidFill>
                <a:latin typeface="Calibri"/>
              </a:rPr>
              <a:t>Every robot is a planner + a radio.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B9A58C"/>
                </a:solidFill>
                <a:latin typeface="Calibri"/>
              </a:rPr>
              <a:t>They negotiate like drivers at an unsignalized junction — not like clients of a control room.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965960"/>
            <a:ext cx="2194560" cy="402336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920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E0A106"/>
                </a:solidFill>
                <a:latin typeface="Calibri"/>
              </a:rPr>
              <a:t>1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F3E6D4"/>
                </a:solidFill>
                <a:latin typeface="Calibri"/>
              </a:rPr>
              <a:t>Sense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B9A58C"/>
                </a:solidFill>
                <a:latin typeface="Calibri"/>
              </a:rPr>
              <a:t>Local range-2 obstacle + peer pose/path.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1965960"/>
            <a:ext cx="2194560" cy="402336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0360" y="2194560"/>
            <a:ext cx="1920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E0A106"/>
                </a:solidFill>
                <a:latin typeface="Calibri"/>
              </a:rPr>
              <a:t>2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F3E6D4"/>
                </a:solidFill>
                <a:latin typeface="Calibri"/>
              </a:rPr>
              <a:t>Broadcast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B9A58C"/>
                </a:solidFill>
                <a:latin typeface="Calibri"/>
              </a:rPr>
              <a:t>Direct peer packets. No scheduler in the middle.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74920" y="1965960"/>
            <a:ext cx="2194560" cy="402336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0" y="2194560"/>
            <a:ext cx="1920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E0A106"/>
                </a:solidFill>
                <a:latin typeface="Calibri"/>
              </a:rPr>
              <a:t>3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F3E6D4"/>
                </a:solidFill>
                <a:latin typeface="Calibri"/>
              </a:rPr>
              <a:t>Auction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B9A58C"/>
                </a:solidFill>
                <a:latin typeface="Calibri"/>
              </a:rPr>
              <a:t>Distance + battery + congestion + workload.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1965960"/>
            <a:ext cx="2194560" cy="402336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43800" y="2194560"/>
            <a:ext cx="1920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E0A106"/>
                </a:solidFill>
                <a:latin typeface="Calibri"/>
              </a:rPr>
              <a:t>4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F3E6D4"/>
                </a:solidFill>
                <a:latin typeface="Calibri"/>
              </a:rPr>
              <a:t>Yield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B9A58C"/>
                </a:solidFill>
                <a:latin typeface="Calibri"/>
              </a:rPr>
              <a:t>UBPA right-of-way. One steps into a turnout.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738359" y="1965960"/>
            <a:ext cx="2194560" cy="402336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19" y="2194560"/>
            <a:ext cx="1920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E0A106"/>
                </a:solidFill>
                <a:latin typeface="Calibri"/>
              </a:rPr>
              <a:t>5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F3E6D4"/>
                </a:solidFill>
                <a:latin typeface="Calibri"/>
              </a:rPr>
              <a:t>Replan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B9A58C"/>
                </a:solidFill>
                <a:latin typeface="Calibri"/>
              </a:rPr>
              <a:t>Live block → new path or RELEASE + re-auction.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A1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E0A106"/>
                </a:solidFill>
                <a:latin typeface="Calibri"/>
              </a:rPr>
              <a:t>SIH26123  ·  ARCHITECTURE  ·  5/12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3E6D4"/>
                </a:solidFill>
                <a:latin typeface="Calibri"/>
              </a:rPr>
              <a:t>The dashboard is a spectator. It never assigns work.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3520440" cy="132588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3246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2F9E8A"/>
                </a:solidFill>
                <a:latin typeface="Calibri"/>
              </a:rPr>
              <a:t>Robot 1
local planner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371600"/>
            <a:ext cx="3520440" cy="132588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1554480"/>
            <a:ext cx="3246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2F9E8A"/>
                </a:solidFill>
                <a:latin typeface="Calibri"/>
              </a:rPr>
              <a:t>Robot 2
local planner</a:t>
            </a:r>
          </a:p>
        </p:txBody>
      </p:sp>
      <p:sp>
        <p:nvSpPr>
          <p:cNvPr id="9" name="Rectangle 8"/>
          <p:cNvSpPr/>
          <p:nvPr/>
        </p:nvSpPr>
        <p:spPr>
          <a:xfrm>
            <a:off x="8092440" y="1371600"/>
            <a:ext cx="3520440" cy="132588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554480"/>
            <a:ext cx="3246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2F9E8A"/>
                </a:solidFill>
                <a:latin typeface="Calibri"/>
              </a:rPr>
              <a:t>Robot 3
local planner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926080"/>
            <a:ext cx="11109960" cy="777240"/>
          </a:xfrm>
          <a:prstGeom prst="rect">
            <a:avLst/>
          </a:prstGeom>
          <a:solidFill>
            <a:srgbClr val="E0A1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063240"/>
            <a:ext cx="10835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1B1712"/>
                </a:solidFill>
                <a:latin typeface="Calibri"/>
              </a:rPr>
              <a:t>Peer broadcast  ·  PEER_STATE / BID / YIELD_QUERY  ·  not a dispatcher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931920"/>
            <a:ext cx="3520440" cy="123444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160520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3E6D4"/>
                </a:solidFill>
                <a:latin typeface="Calibri"/>
              </a:rPr>
              <a:t>Conflict from planned_path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3931920"/>
            <a:ext cx="3520440" cy="123444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4160520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3E6D4"/>
                </a:solidFill>
                <a:latin typeface="Calibri"/>
              </a:rPr>
              <a:t>Local negotiation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3931920"/>
            <a:ext cx="3520440" cy="123444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4160520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3E6D4"/>
                </a:solidFill>
                <a:latin typeface="Calibri"/>
              </a:rPr>
              <a:t>UBPA yield / replan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3949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B9A58C"/>
                </a:solidFill>
                <a:latin typeface="Calibri"/>
              </a:rPr>
              <a:t>Judge question: does Robot A know what Robot B is doing directly, or through something else?
Answer: directly, through the peer broadcast.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A1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E0A106"/>
                </a:solidFill>
                <a:latin typeface="Calibri"/>
              </a:rPr>
              <a:t>SIH26123  ·  INNOVATION  ·  6/12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3E6D4"/>
                </a:solidFill>
                <a:latin typeface="Calibri"/>
              </a:rPr>
              <a:t>UBPA: an explainable right-of-way, not a token ring.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1051560" cy="960120"/>
          </a:xfrm>
          <a:prstGeom prst="rect">
            <a:avLst/>
          </a:prstGeom>
          <a:solidFill>
            <a:srgbClr val="E0A1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72768"/>
            <a:ext cx="1051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1B1712"/>
                </a:solidFill>
                <a:latin typeface="Calibri"/>
              </a:rPr>
              <a:t>U</a:t>
            </a:r>
          </a:p>
        </p:txBody>
      </p:sp>
      <p:sp>
        <p:nvSpPr>
          <p:cNvPr id="7" name="Rectangle 6"/>
          <p:cNvSpPr/>
          <p:nvPr/>
        </p:nvSpPr>
        <p:spPr>
          <a:xfrm>
            <a:off x="1691640" y="1371600"/>
            <a:ext cx="9966960" cy="96012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20240" y="1536192"/>
            <a:ext cx="9509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3E6D4"/>
                </a:solidFill>
                <a:latin typeface="Calibri"/>
              </a:rPr>
              <a:t>Urgency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B9A58C"/>
                </a:solidFill>
                <a:latin typeface="Calibri"/>
              </a:rPr>
              <a:t>Hot order / perishable pick scores higher.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468880"/>
            <a:ext cx="1051560" cy="960120"/>
          </a:xfrm>
          <a:prstGeom prst="rect">
            <a:avLst/>
          </a:prstGeom>
          <a:solidFill>
            <a:srgbClr val="E0A1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670048"/>
            <a:ext cx="1051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1B1712"/>
                </a:solidFill>
                <a:latin typeface="Calibri"/>
              </a:rPr>
              <a:t>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91640" y="2468880"/>
            <a:ext cx="9966960" cy="96012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20240" y="2633472"/>
            <a:ext cx="9509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3E6D4"/>
                </a:solidFill>
                <a:latin typeface="Calibri"/>
              </a:rPr>
              <a:t>Battery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B9A58C"/>
                </a:solidFill>
                <a:latin typeface="Calibri"/>
              </a:rPr>
              <a:t>Low battery should not sit in a deadlock.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566160"/>
            <a:ext cx="1051560" cy="960120"/>
          </a:xfrm>
          <a:prstGeom prst="rect">
            <a:avLst/>
          </a:prstGeom>
          <a:solidFill>
            <a:srgbClr val="E0A1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767328"/>
            <a:ext cx="1051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1B1712"/>
                </a:solidFill>
                <a:latin typeface="Calibri"/>
              </a:rPr>
              <a:t>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91640" y="3566160"/>
            <a:ext cx="9966960" cy="96012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20240" y="3730752"/>
            <a:ext cx="9509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3E6D4"/>
                </a:solidFill>
                <a:latin typeface="Calibri"/>
              </a:rPr>
              <a:t>Priority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B9A58C"/>
                </a:solidFill>
                <a:latin typeface="Calibri"/>
              </a:rPr>
              <a:t>Role / SLA weight, still local.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663440"/>
            <a:ext cx="1051560" cy="960120"/>
          </a:xfrm>
          <a:prstGeom prst="rect">
            <a:avLst/>
          </a:prstGeom>
          <a:solidFill>
            <a:srgbClr val="E0A1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864608"/>
            <a:ext cx="1051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1B1712"/>
                </a:solidFill>
                <a:latin typeface="Calibri"/>
              </a:rPr>
              <a:t>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91640" y="4663440"/>
            <a:ext cx="9966960" cy="96012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20240" y="4828032"/>
            <a:ext cx="9509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3E6D4"/>
                </a:solidFill>
                <a:latin typeface="Calibri"/>
              </a:rPr>
              <a:t>Arrival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B9A58C"/>
                </a:solidFill>
                <a:latin typeface="Calibri"/>
              </a:rPr>
              <a:t>Who reached the conflict first.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A1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E0A106"/>
                </a:solidFill>
                <a:latin typeface="Calibri"/>
              </a:rPr>
              <a:t>SIH26123  ·  ALGORITHM  ·  7/12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3E6D4"/>
                </a:solidFill>
                <a:latin typeface="Calibri"/>
              </a:rPr>
              <a:t>Four local rules. Zero central locks.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11155680" cy="1078992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44752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F9E8A"/>
                </a:solidFill>
                <a:latin typeface="Calibri"/>
              </a:rPr>
              <a:t>Auction cost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3E6D4"/>
                </a:solidFill>
                <a:latin typeface="Calibri"/>
              </a:rPr>
              <a:t>distance + battery penalty + congestion + workload. Lowest valid bid wins. Invalid if battery cannot finish pick+drop.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468880"/>
            <a:ext cx="11155680" cy="1078992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33472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F9E8A"/>
                </a:solidFill>
                <a:latin typeface="Calibri"/>
              </a:rPr>
              <a:t>Space-time A*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3E6D4"/>
                </a:solidFill>
                <a:latin typeface="Calibri"/>
              </a:rPr>
              <a:t>Each robot plans around peer paths it has heard. The world does not reserve cells for the fleet.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657600"/>
            <a:ext cx="11155680" cy="1078992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822192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F9E8A"/>
                </a:solidFill>
                <a:latin typeface="Calibri"/>
              </a:rPr>
              <a:t>UBPA yield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3E6D4"/>
                </a:solidFill>
                <a:latin typeface="Calibri"/>
              </a:rPr>
              <a:t>On head-on: lower score steps into a turnout. Negotiation packets: YIELD_QUERY / ACK / NACK.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846320"/>
            <a:ext cx="11155680" cy="1078992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010912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F9E8A"/>
                </a:solidFill>
                <a:latin typeface="Calibri"/>
              </a:rPr>
              <a:t>Stalemate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3E6D4"/>
                </a:solidFill>
                <a:latin typeface="Calibri"/>
              </a:rPr>
              <a:t>If both have stale data for 8 ticks, lower id yields. Then replan. If pick is unreachable, RELEASE and re-auction.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A1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E0A106"/>
                </a:solidFill>
                <a:latin typeface="Calibri"/>
              </a:rPr>
              <a:t>SIH26123  ·  INDIA VALIDATION  ·  8/12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3E6D4"/>
                </a:solidFill>
                <a:latin typeface="Calibri"/>
              </a:rPr>
              <a:t>Hyderabad 3PL rack map, not an empty grid.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11155680" cy="105156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E0A106"/>
                </a:solidFill>
                <a:latin typeface="Calibri"/>
              </a:rPr>
              <a:t>Layout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3E6D4"/>
                </a:solidFill>
                <a:latin typeface="Calibri"/>
              </a:rPr>
              <a:t>25×11 cells. 1-wide rack aisles. Two highways. Depot and charger. Turnout bays so a yield is physically possible.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514600"/>
            <a:ext cx="11155680" cy="105156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E0A106"/>
                </a:solidFill>
                <a:latin typeface="Calibri"/>
              </a:rPr>
              <a:t>Traffic mix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3E6D4"/>
                </a:solidFill>
                <a:latin typeface="Calibri"/>
              </a:rPr>
              <a:t>Mouse click = human / forklift / fallen carton. Robots sense range 2, broadcast the obstacle, replan.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657600"/>
            <a:ext cx="11155680" cy="105156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79476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E0A106"/>
                </a:solidFill>
                <a:latin typeface="Calibri"/>
              </a:rPr>
              <a:t>Radio reality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3E6D4"/>
                </a:solidFill>
                <a:latin typeface="Calibri"/>
              </a:rPr>
              <a:t>Indoor 5G/Wi-Fi is lossy. Live packet-loss and delay sliders. Stale peers do not crash the fleet.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800600"/>
            <a:ext cx="11155680" cy="105156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93776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E0A106"/>
                </a:solidFill>
                <a:latin typeface="Calibri"/>
              </a:rPr>
              <a:t>Why here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3E6D4"/>
                </a:solidFill>
                <a:latin typeface="Calibri"/>
              </a:rPr>
              <a:t>Indian 3PLs buy AMRs faster than they buy a second control room. Edge negotiation is the cheap resilience.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A1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E0A106"/>
                </a:solidFill>
                <a:latin typeface="Calibri"/>
              </a:rPr>
              <a:t>SIH26123  ·  MEASURED RESULTS  ·  9/12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3E6D4"/>
                </a:solidFill>
                <a:latin typeface="Calibri"/>
              </a:rPr>
              <a:t>Same map. Same seeds. Baseline never finishes.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B9A58C"/>
                </a:solidFill>
                <a:latin typeface="Calibri"/>
              </a:rPr>
              <a:t>Do not say “X% faster.” There is no finish time to divide. Source: results/metrics.json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54480"/>
            <a:ext cx="3017520" cy="50292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66420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0A106"/>
                </a:solidFill>
                <a:latin typeface="Calibri"/>
              </a:rPr>
              <a:t>Experiment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520440" y="1554480"/>
            <a:ext cx="4069080" cy="502920"/>
          </a:xfrm>
          <a:prstGeom prst="rect">
            <a:avLst/>
          </a:prstGeom>
          <a:solidFill>
            <a:srgbClr val="E0A1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30168" y="1664208"/>
            <a:ext cx="3886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B1712"/>
                </a:solidFill>
                <a:latin typeface="Calibri"/>
              </a:rPr>
              <a:t>Stop-and-wait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554480"/>
            <a:ext cx="4069080" cy="502920"/>
          </a:xfrm>
          <a:prstGeom prst="rect">
            <a:avLst/>
          </a:prstGeom>
          <a:solidFill>
            <a:srgbClr val="E0A1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99248" y="1664208"/>
            <a:ext cx="3886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B1712"/>
                </a:solidFill>
                <a:latin typeface="Calibri"/>
              </a:rPr>
              <a:t>UBPA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057400"/>
            <a:ext cx="3017520" cy="77724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2258568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3E6D4"/>
                </a:solidFill>
                <a:latin typeface="Calibri"/>
              </a:rPr>
              <a:t>E1 throughput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20440" y="2057400"/>
            <a:ext cx="4069080" cy="77724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0168" y="2258568"/>
            <a:ext cx="3886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44B2B"/>
                </a:solidFill>
                <a:latin typeface="Calibri"/>
              </a:rPr>
              <a:t>incomplete · 0/6 jobs · 2 deadlocks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0" y="2057400"/>
            <a:ext cx="4069080" cy="77724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99248" y="2258568"/>
            <a:ext cx="3886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F9E8A"/>
                </a:solidFill>
                <a:latin typeface="Calibri"/>
              </a:rPr>
              <a:t>72 ticks · 6/6 · 0 deadlocks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834640"/>
            <a:ext cx="3017520" cy="777240"/>
          </a:xfrm>
          <a:prstGeom prst="rect">
            <a:avLst/>
          </a:prstGeom>
          <a:solidFill>
            <a:srgbClr val="2C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3035808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3E6D4"/>
                </a:solidFill>
                <a:latin typeface="Calibri"/>
              </a:rPr>
              <a:t>E2 head-on aisle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20440" y="2834640"/>
            <a:ext cx="4069080" cy="777240"/>
          </a:xfrm>
          <a:prstGeom prst="rect">
            <a:avLst/>
          </a:prstGeom>
          <a:solidFill>
            <a:srgbClr val="2C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30168" y="3035808"/>
            <a:ext cx="3886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44B2B"/>
                </a:solidFill>
                <a:latin typeface="Calibri"/>
              </a:rPr>
              <a:t>incomplete · 1/3 jobs · 2 deadlocks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9520" y="2834640"/>
            <a:ext cx="4069080" cy="777240"/>
          </a:xfrm>
          <a:prstGeom prst="rect">
            <a:avLst/>
          </a:prstGeom>
          <a:solidFill>
            <a:srgbClr val="2C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99248" y="3035808"/>
            <a:ext cx="3886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F9E8A"/>
                </a:solidFill>
                <a:latin typeface="Calibri"/>
              </a:rPr>
              <a:t>51 ticks · 3/3 · 0 deadlocks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611880"/>
            <a:ext cx="3017520" cy="77724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3813048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3E6D4"/>
                </a:solidFill>
                <a:latin typeface="Calibri"/>
              </a:rPr>
              <a:t>E3 aisle blocked t=16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20440" y="3611880"/>
            <a:ext cx="4069080" cy="77724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30168" y="3813048"/>
            <a:ext cx="3886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44B2B"/>
                </a:solidFill>
                <a:latin typeface="Calibri"/>
              </a:rPr>
              <a:t>incomplete · 3/6 jobs · 3 deadlocks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89520" y="3611880"/>
            <a:ext cx="4069080" cy="77724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99248" y="3813048"/>
            <a:ext cx="3886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F9E8A"/>
                </a:solidFill>
                <a:latin typeface="Calibri"/>
              </a:rPr>
              <a:t>85 ticks · 6/6 · 0 deadlocks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709160"/>
            <a:ext cx="11155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E0A106"/>
                </a:solidFill>
                <a:latin typeface="Calibri"/>
              </a:rPr>
              <a:t>How to read this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3E6D4"/>
                </a:solidFill>
                <a:latin typeface="Calibri"/>
              </a:rPr>
              <a:t>Stop-and-wait freezes on mutual occupancy, so distance is low and wait ≈ 1. UBPA travels farther because it finishes the jobs. Tick limit 800. comparable=false, so improvement % is n/a.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A1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E0A106"/>
                </a:solidFill>
                <a:latin typeface="Calibri"/>
              </a:rPr>
              <a:t>SIH26123  ·  LIVE DEMO  ·  10/12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2F9E8A"/>
                </a:solidFill>
                <a:latin typeface="Calibri"/>
              </a:rPr>
              <a:t>python scripts/run_demo.py   →   http://127.0.0.1:8765/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1371600" cy="658368"/>
          </a:xfrm>
          <a:prstGeom prst="rect">
            <a:avLst/>
          </a:prstGeom>
          <a:solidFill>
            <a:srgbClr val="E0A1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80744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B1712"/>
                </a:solidFill>
                <a:latin typeface="Calibri"/>
              </a:rPr>
              <a:t>0:00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0" y="1234440"/>
            <a:ext cx="9646920" cy="658368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94560" y="1380744"/>
            <a:ext cx="9326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3E6D4"/>
                </a:solidFill>
                <a:latin typeface="Calibri"/>
              </a:rPr>
              <a:t>Three AMRs. No dispatcher. Point at the radio feed.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011680"/>
            <a:ext cx="1371600" cy="658368"/>
          </a:xfrm>
          <a:prstGeom prst="rect">
            <a:avLst/>
          </a:prstGeom>
          <a:solidFill>
            <a:srgbClr val="E0A1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157984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B1712"/>
                </a:solidFill>
                <a:latin typeface="Calibri"/>
              </a:rPr>
              <a:t>0:40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0" y="2011680"/>
            <a:ext cx="9646920" cy="658368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4560" y="2157984"/>
            <a:ext cx="9326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3E6D4"/>
                </a:solidFill>
                <a:latin typeface="Calibri"/>
              </a:rPr>
              <a:t>Auction: lowest valid cost. That is why a nearer robot took the pick.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788920"/>
            <a:ext cx="1371600" cy="658368"/>
          </a:xfrm>
          <a:prstGeom prst="rect">
            <a:avLst/>
          </a:prstGeom>
          <a:solidFill>
            <a:srgbClr val="E0A1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935224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B1712"/>
                </a:solidFill>
                <a:latin typeface="Calibri"/>
              </a:rPr>
              <a:t>1:10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0" y="2788920"/>
            <a:ext cx="9646920" cy="658368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4560" y="2935224"/>
            <a:ext cx="9326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3E6D4"/>
                </a:solidFill>
                <a:latin typeface="Calibri"/>
              </a:rPr>
              <a:t>Head-on in the 1-wide aisle. UBPA. One yields. Both continue.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566160"/>
            <a:ext cx="1371600" cy="658368"/>
          </a:xfrm>
          <a:prstGeom prst="rect">
            <a:avLst/>
          </a:prstGeom>
          <a:solidFill>
            <a:srgbClr val="E0A1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712464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B1712"/>
                </a:solidFill>
                <a:latin typeface="Calibri"/>
              </a:rPr>
              <a:t>1:50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0" y="3566160"/>
            <a:ext cx="9646920" cy="658368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94560" y="3712464"/>
            <a:ext cx="9326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3E6D4"/>
                </a:solidFill>
                <a:latin typeface="Calibri"/>
              </a:rPr>
              <a:t>BLOCK AISLE or click a cell. Replan or RELEASE + re-auction.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343400"/>
            <a:ext cx="1371600" cy="658368"/>
          </a:xfrm>
          <a:prstGeom prst="rect">
            <a:avLst/>
          </a:prstGeom>
          <a:solidFill>
            <a:srgbClr val="E0A1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489704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B1712"/>
                </a:solidFill>
                <a:latin typeface="Calibri"/>
              </a:rPr>
              <a:t>2:10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11680" y="4343400"/>
            <a:ext cx="9646920" cy="658368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94560" y="4489704"/>
            <a:ext cx="9326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3E6D4"/>
                </a:solidFill>
                <a:latin typeface="Calibri"/>
              </a:rPr>
              <a:t>Drag packet-loss to 40%. Radio dies a little. They still recover.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120640"/>
            <a:ext cx="1371600" cy="658368"/>
          </a:xfrm>
          <a:prstGeom prst="rect">
            <a:avLst/>
          </a:prstGeom>
          <a:solidFill>
            <a:srgbClr val="E0A1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5266944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B1712"/>
                </a:solidFill>
                <a:latin typeface="Calibri"/>
              </a:rPr>
              <a:t>2:25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11680" y="5120640"/>
            <a:ext cx="9646920" cy="658368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94560" y="5266944"/>
            <a:ext cx="9326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3E6D4"/>
                </a:solidFill>
                <a:latin typeface="Calibri"/>
              </a:rPr>
              <a:t>Flip policy to stop-and-wait. Same map. They stall. That is the usefulness.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A1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E0A106"/>
                </a:solidFill>
                <a:latin typeface="Calibri"/>
              </a:rPr>
              <a:t>SIH26123  ·  DEPLOYMENT PATH  ·  11/12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3E6D4"/>
                </a:solidFill>
                <a:latin typeface="Calibri"/>
              </a:rPr>
              <a:t>Honest path. We did not fake a warehouse pilot.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63040"/>
            <a:ext cx="2743200" cy="301752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23774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E0A106"/>
                </a:solidFill>
                <a:latin typeface="Calibri"/>
              </a:rPr>
              <a:t>1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F3E6D4"/>
                </a:solidFill>
                <a:latin typeface="Calibri"/>
              </a:rPr>
              <a:t>Now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B9A58C"/>
                </a:solidFill>
                <a:latin typeface="Calibri"/>
              </a:rPr>
              <a:t>Laptop sim. Same robot code. Spectator dashboard.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463040"/>
            <a:ext cx="2743200" cy="301752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691640"/>
            <a:ext cx="23774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E0A106"/>
                </a:solidFill>
                <a:latin typeface="Calibri"/>
              </a:rPr>
              <a:t>2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F3E6D4"/>
                </a:solidFill>
                <a:latin typeface="Calibri"/>
              </a:rPr>
              <a:t>Next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B9A58C"/>
                </a:solidFill>
                <a:latin typeface="Calibri"/>
              </a:rPr>
              <a:t>One Raspberry Pi per robot. UDP multicast = this PeerBus.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463040"/>
            <a:ext cx="2743200" cy="301752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691640"/>
            <a:ext cx="23774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E0A106"/>
                </a:solidFill>
                <a:latin typeface="Calibri"/>
              </a:rPr>
              <a:t>3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F3E6D4"/>
                </a:solidFill>
                <a:latin typeface="Calibri"/>
              </a:rPr>
              <a:t>Pilot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B9A58C"/>
                </a:solidFill>
                <a:latin typeface="Calibri"/>
              </a:rPr>
              <a:t>3 AMRs, one aisle, one human picker, one blocked carton.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0" y="1463040"/>
            <a:ext cx="2743200" cy="301752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0" y="1691640"/>
            <a:ext cx="23774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E0A106"/>
                </a:solidFill>
                <a:latin typeface="Calibri"/>
              </a:rPr>
              <a:t>4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F3E6D4"/>
                </a:solidFill>
                <a:latin typeface="Calibri"/>
              </a:rPr>
              <a:t>Scale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B9A58C"/>
                </a:solidFill>
                <a:latin typeface="Calibri"/>
              </a:rPr>
              <a:t>Only after the 3-robot yield works on hardware.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70916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C44B2B"/>
                </a:solidFill>
                <a:latin typeface="Calibri"/>
              </a:rPr>
              <a:t>What we do not claim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3E6D4"/>
                </a:solidFill>
                <a:latin typeface="Calibri"/>
              </a:rPr>
              <a:t>Real AMRs, production 5G mesh, on-robot GPU, 40-robot scale, or a signed 3PL deployment. Simulated: radio, lidar-range sense, battery drain, laptop clock as edge CPU proxy.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A1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F3E6D4"/>
                </a:solidFill>
                <a:latin typeface="Calibri"/>
              </a:rPr>
              <a:t>Robots that argue in the aisle</a:t>
            </a:r>
          </a:p>
          <a:p>
            <a:pPr algn="l">
              <a:spcAft>
                <a:spcPts val="600"/>
              </a:spcAft>
            </a:pPr>
            <a:r>
              <a:rPr sz="3400" b="1">
                <a:solidFill>
                  <a:srgbClr val="E0A106"/>
                </a:solidFill>
                <a:latin typeface="Calibri"/>
              </a:rPr>
              <a:t>do not wait for a control room.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79476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B9A58C"/>
                </a:solidFill>
                <a:latin typeface="Calibri"/>
              </a:rPr>
              <a:t>Who assigns tasks?  Nobody. Each robot bids.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B9A58C"/>
                </a:solidFill>
                <a:latin typeface="Calibri"/>
              </a:rPr>
              <a:t>Who has right of way?  UBPA, then robot id.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B9A58C"/>
                </a:solidFill>
                <a:latin typeface="Calibri"/>
              </a:rPr>
              <a:t>What if radio is stale?  Stalemate timeout. Lower id yields.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2F9E8A"/>
                </a:solidFill>
                <a:latin typeface="Calibri"/>
              </a:rPr>
              <a:t>python scripts/run_demo.py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